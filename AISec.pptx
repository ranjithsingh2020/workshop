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312" r:id="rId3"/>
    <p:sldId id="316" r:id="rId4"/>
    <p:sldId id="318" r:id="rId5"/>
    <p:sldId id="314" r:id="rId6"/>
    <p:sldId id="317" r:id="rId7"/>
    <p:sldId id="313" r:id="rId8"/>
    <p:sldId id="315" r:id="rId9"/>
    <p:sldId id="319" r:id="rId10"/>
    <p:sldId id="320" r:id="rId11"/>
    <p:sldId id="321" r:id="rId12"/>
    <p:sldId id="322" r:id="rId13"/>
    <p:sldId id="305" r:id="rId14"/>
    <p:sldId id="310" r:id="rId15"/>
    <p:sldId id="311" r:id="rId16"/>
    <p:sldId id="306" r:id="rId17"/>
    <p:sldId id="274" r:id="rId18"/>
    <p:sldId id="275" r:id="rId19"/>
    <p:sldId id="298"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8" d="100"/>
          <a:sy n="68" d="100"/>
        </p:scale>
        <p:origin x="61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9/19/2026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9/19/2026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9/19/2026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9/19/2026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9/19/2026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5420" y="685800"/>
            <a:ext cx="9267441" cy="4604994"/>
          </a:xfrm>
        </p:spPr>
        <p:txBody>
          <a:bodyPr/>
          <a:lstStyle/>
          <a:p>
            <a:pPr algn="ctr"/>
            <a:r>
              <a:rPr lang="en-US" dirty="0" smtClean="0">
                <a:solidFill>
                  <a:srgbClr val="C00000"/>
                </a:solidFill>
              </a:rPr>
              <a:t> AI POWERED SIEM </a:t>
            </a:r>
            <a:br>
              <a:rPr lang="en-US" dirty="0" smtClean="0">
                <a:solidFill>
                  <a:srgbClr val="C00000"/>
                </a:solidFill>
              </a:rPr>
            </a:br>
            <a:r>
              <a:rPr lang="en-US" sz="4400" dirty="0" smtClean="0">
                <a:solidFill>
                  <a:srgbClr val="C00000"/>
                </a:solidFill>
              </a:rPr>
              <a:t>Reducing Alert Fatigue for SOC Analysts and Improving MTTD/MTTR</a:t>
            </a:r>
            <a:br>
              <a:rPr lang="en-US" sz="4400" dirty="0" smtClean="0">
                <a:solidFill>
                  <a:srgbClr val="C00000"/>
                </a:solidFill>
              </a:rPr>
            </a:br>
            <a:r>
              <a:rPr lang="en-US" sz="4400" dirty="0">
                <a:solidFill>
                  <a:srgbClr val="C00000"/>
                </a:solidFill>
              </a:rPr>
              <a:t/>
            </a:r>
            <a:br>
              <a:rPr lang="en-US" sz="4400" dirty="0">
                <a:solidFill>
                  <a:srgbClr val="C00000"/>
                </a:solidFill>
              </a:rPr>
            </a:br>
            <a:r>
              <a:rPr lang="en-US" sz="4400" dirty="0" smtClean="0">
                <a:solidFill>
                  <a:srgbClr val="7030A0"/>
                </a:solidFill>
              </a:rPr>
              <a:t>TEAM : CYBERVENGERS</a:t>
            </a:r>
            <a:endParaRPr lang="en-IN" sz="4400" dirty="0">
              <a:solidFill>
                <a:srgbClr val="7030A0"/>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20400" y="1"/>
            <a:ext cx="1371599" cy="1371599"/>
          </a:xfrm>
          <a:prstGeom prst="rect">
            <a:avLst/>
          </a:prstGeom>
        </p:spPr>
      </p:pic>
    </p:spTree>
    <p:extLst>
      <p:ext uri="{BB962C8B-B14F-4D97-AF65-F5344CB8AC3E}">
        <p14:creationId xmlns:p14="http://schemas.microsoft.com/office/powerpoint/2010/main" val="15213359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20400" y="1"/>
            <a:ext cx="1371599" cy="1371599"/>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5608" y="855483"/>
            <a:ext cx="10021502" cy="5718876"/>
          </a:xfrm>
          <a:prstGeom prst="rect">
            <a:avLst/>
          </a:prstGeom>
        </p:spPr>
      </p:pic>
    </p:spTree>
    <p:extLst>
      <p:ext uri="{BB962C8B-B14F-4D97-AF65-F5344CB8AC3E}">
        <p14:creationId xmlns:p14="http://schemas.microsoft.com/office/powerpoint/2010/main" val="132137593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C00000"/>
                </a:solidFill>
              </a:rPr>
              <a:t>Problem Statement</a:t>
            </a:r>
            <a:endParaRPr lang="en-IN" dirty="0">
              <a:solidFill>
                <a:srgbClr val="C00000"/>
              </a:solidFill>
            </a:endParaRPr>
          </a:p>
        </p:txBody>
      </p:sp>
      <p:sp>
        <p:nvSpPr>
          <p:cNvPr id="3" name="Content Placeholder 2"/>
          <p:cNvSpPr>
            <a:spLocks noGrp="1"/>
          </p:cNvSpPr>
          <p:nvPr>
            <p:ph idx="1"/>
          </p:nvPr>
        </p:nvSpPr>
        <p:spPr>
          <a:xfrm>
            <a:off x="535932" y="1713584"/>
            <a:ext cx="10201198" cy="4366705"/>
          </a:xfrm>
        </p:spPr>
        <p:txBody>
          <a:bodyPr/>
          <a:lstStyle/>
          <a:p>
            <a:r>
              <a:rPr lang="en-US" dirty="0" smtClean="0"/>
              <a:t>SOC Analysts are drowned with tons of alerts on daily basis.</a:t>
            </a:r>
          </a:p>
          <a:p>
            <a:r>
              <a:rPr lang="en-US" dirty="0" smtClean="0"/>
              <a:t>Need to manually review the alerts to identify false positives and also low-priority alerts</a:t>
            </a:r>
          </a:p>
          <a:p>
            <a:r>
              <a:rPr lang="en-IN" dirty="0"/>
              <a:t>Analyst determines severity and scope manually</a:t>
            </a:r>
          </a:p>
          <a:p>
            <a:r>
              <a:rPr lang="en-US" dirty="0" smtClean="0"/>
              <a:t>For Critical and High Alerts, doing further investigation and enrichment of IOCs is also done manually.</a:t>
            </a:r>
          </a:p>
          <a:p>
            <a:r>
              <a:rPr lang="en-IN" b="1" dirty="0" smtClean="0"/>
              <a:t>MTTD</a:t>
            </a:r>
            <a:r>
              <a:rPr lang="en-IN" dirty="0" smtClean="0"/>
              <a:t> </a:t>
            </a:r>
            <a:r>
              <a:rPr lang="en-IN" dirty="0"/>
              <a:t>(Mean Time to Detect) and </a:t>
            </a:r>
            <a:r>
              <a:rPr lang="en-IN" b="1" dirty="0"/>
              <a:t>MTTR</a:t>
            </a:r>
            <a:r>
              <a:rPr lang="en-IN" dirty="0"/>
              <a:t> (Mean Time to Repair/Recovery) </a:t>
            </a:r>
            <a:r>
              <a:rPr lang="en-IN" dirty="0" smtClean="0"/>
              <a:t>are usually high due to manual investigation and correlation of alerts where AI can help if we provide the right context.</a:t>
            </a:r>
          </a:p>
          <a:p>
            <a:r>
              <a:rPr lang="en-IN" dirty="0"/>
              <a:t>Analyst searches logs, threat intel and asset information </a:t>
            </a:r>
            <a:r>
              <a:rPr lang="en-IN" dirty="0" smtClean="0"/>
              <a:t>manually</a:t>
            </a:r>
          </a:p>
          <a:p>
            <a:r>
              <a:rPr lang="en-IN" dirty="0"/>
              <a:t>Analysts need to formulate </a:t>
            </a:r>
            <a:r>
              <a:rPr lang="en-IN" dirty="0" smtClean="0"/>
              <a:t>different queries(KQL, SQL) and need specific SIEM expertise to search for relevant information but with AI integration it can be done through simple natural language queries. </a:t>
            </a:r>
          </a:p>
        </p:txBody>
      </p:sp>
    </p:spTree>
    <p:extLst>
      <p:ext uri="{BB962C8B-B14F-4D97-AF65-F5344CB8AC3E}">
        <p14:creationId xmlns:p14="http://schemas.microsoft.com/office/powerpoint/2010/main" val="222814501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C00000"/>
                </a:solidFill>
              </a:rPr>
              <a:t>How AI Can Help Here?</a:t>
            </a:r>
            <a:endParaRPr lang="en-IN" dirty="0">
              <a:solidFill>
                <a:srgbClr val="C00000"/>
              </a:solidFill>
            </a:endParaRPr>
          </a:p>
        </p:txBody>
      </p:sp>
      <p:sp>
        <p:nvSpPr>
          <p:cNvPr id="3" name="Content Placeholder 2"/>
          <p:cNvSpPr>
            <a:spLocks noGrp="1"/>
          </p:cNvSpPr>
          <p:nvPr>
            <p:ph idx="1"/>
          </p:nvPr>
        </p:nvSpPr>
        <p:spPr>
          <a:xfrm>
            <a:off x="677334" y="1630837"/>
            <a:ext cx="8938006" cy="4410525"/>
          </a:xfrm>
        </p:spPr>
        <p:txBody>
          <a:bodyPr/>
          <a:lstStyle/>
          <a:p>
            <a:r>
              <a:rPr lang="en-IN" dirty="0"/>
              <a:t>Group related alerts and prioritize potentially important </a:t>
            </a:r>
            <a:r>
              <a:rPr lang="en-IN" dirty="0" smtClean="0"/>
              <a:t>incidents</a:t>
            </a:r>
          </a:p>
          <a:p>
            <a:r>
              <a:rPr lang="en-IN" dirty="0"/>
              <a:t>Learn context and identify benign </a:t>
            </a:r>
            <a:r>
              <a:rPr lang="en-IN" dirty="0" smtClean="0"/>
              <a:t>patterns</a:t>
            </a:r>
          </a:p>
          <a:p>
            <a:r>
              <a:rPr lang="en-IN" dirty="0"/>
              <a:t>Correlate events into a single attack </a:t>
            </a:r>
            <a:r>
              <a:rPr lang="en-IN" dirty="0" smtClean="0"/>
              <a:t>story</a:t>
            </a:r>
          </a:p>
          <a:p>
            <a:r>
              <a:rPr lang="en-IN" dirty="0"/>
              <a:t>Retrieve and summarize relevant evidence </a:t>
            </a:r>
            <a:r>
              <a:rPr lang="en-IN" dirty="0" smtClean="0"/>
              <a:t>automatically</a:t>
            </a:r>
          </a:p>
          <a:p>
            <a:r>
              <a:rPr lang="en-IN" dirty="0"/>
              <a:t>AI can combine information from multiple </a:t>
            </a:r>
            <a:r>
              <a:rPr lang="en-IN" dirty="0" smtClean="0"/>
              <a:t>tools, IOC Enrichment can be automated</a:t>
            </a:r>
          </a:p>
          <a:p>
            <a:r>
              <a:rPr lang="en-IN" dirty="0"/>
              <a:t>LLM can translate </a:t>
            </a:r>
            <a:r>
              <a:rPr lang="en-IN" dirty="0" smtClean="0"/>
              <a:t>natural language investigation </a:t>
            </a:r>
            <a:r>
              <a:rPr lang="en-IN" dirty="0"/>
              <a:t>questions into </a:t>
            </a:r>
            <a:r>
              <a:rPr lang="en-IN"/>
              <a:t>SIEM </a:t>
            </a:r>
            <a:r>
              <a:rPr lang="en-IN" smtClean="0"/>
              <a:t>specific queries </a:t>
            </a:r>
            <a:r>
              <a:rPr lang="en-IN" dirty="0" smtClean="0"/>
              <a:t>like KQL, SPL etc.</a:t>
            </a:r>
          </a:p>
          <a:p>
            <a:r>
              <a:rPr lang="en-IN" dirty="0"/>
              <a:t>AI can provide evidence-based triage and explain why an alert </a:t>
            </a:r>
            <a:r>
              <a:rPr lang="en-IN" dirty="0" smtClean="0"/>
              <a:t>matters</a:t>
            </a:r>
          </a:p>
          <a:p>
            <a:r>
              <a:rPr lang="en-IN" dirty="0"/>
              <a:t>AI agents can automate standard investigation workflows</a:t>
            </a:r>
          </a:p>
        </p:txBody>
      </p:sp>
    </p:spTree>
    <p:extLst>
      <p:ext uri="{BB962C8B-B14F-4D97-AF65-F5344CB8AC3E}">
        <p14:creationId xmlns:p14="http://schemas.microsoft.com/office/powerpoint/2010/main" val="126801046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661920" y="210541"/>
            <a:ext cx="10518270" cy="652806"/>
          </a:xfrm>
        </p:spPr>
        <p:txBody>
          <a:bodyPr>
            <a:normAutofit/>
          </a:bodyPr>
          <a:lstStyle/>
          <a:p>
            <a:pPr algn="ctr"/>
            <a:r>
              <a:rPr lang="en-US" dirty="0" smtClean="0">
                <a:solidFill>
                  <a:srgbClr val="C00000"/>
                </a:solidFill>
              </a:rPr>
              <a:t>High Level Flow Diagram</a:t>
            </a:r>
            <a:endParaRPr lang="en-IN" dirty="0">
              <a:solidFill>
                <a:srgbClr val="C00000"/>
              </a:solidFill>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1223" y="891628"/>
            <a:ext cx="9434188" cy="5924123"/>
          </a:xfrm>
          <a:prstGeom prst="rect">
            <a:avLst/>
          </a:prstGeom>
        </p:spPr>
      </p:pic>
    </p:spTree>
    <p:extLst>
      <p:ext uri="{BB962C8B-B14F-4D97-AF65-F5344CB8AC3E}">
        <p14:creationId xmlns:p14="http://schemas.microsoft.com/office/powerpoint/2010/main" val="165306571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086439" y="1014176"/>
            <a:ext cx="6576117" cy="5254650"/>
          </a:xfrm>
          <a:prstGeom prst="rect">
            <a:avLst/>
          </a:prstGeom>
        </p:spPr>
      </p:pic>
      <p:sp>
        <p:nvSpPr>
          <p:cNvPr id="5" name="Title 1"/>
          <p:cNvSpPr>
            <a:spLocks noGrp="1"/>
          </p:cNvSpPr>
          <p:nvPr>
            <p:ph type="title"/>
          </p:nvPr>
        </p:nvSpPr>
        <p:spPr>
          <a:xfrm>
            <a:off x="661920" y="210541"/>
            <a:ext cx="10518270" cy="652806"/>
          </a:xfrm>
        </p:spPr>
        <p:txBody>
          <a:bodyPr>
            <a:normAutofit/>
          </a:bodyPr>
          <a:lstStyle/>
          <a:p>
            <a:pPr algn="ctr"/>
            <a:r>
              <a:rPr lang="en-US" dirty="0" smtClean="0">
                <a:solidFill>
                  <a:srgbClr val="C00000"/>
                </a:solidFill>
              </a:rPr>
              <a:t>High Level Flow Diagram</a:t>
            </a:r>
            <a:endParaRPr lang="en-IN" dirty="0">
              <a:solidFill>
                <a:srgbClr val="C00000"/>
              </a:solidFill>
            </a:endParaRPr>
          </a:p>
        </p:txBody>
      </p:sp>
    </p:spTree>
    <p:extLst>
      <p:ext uri="{BB962C8B-B14F-4D97-AF65-F5344CB8AC3E}">
        <p14:creationId xmlns:p14="http://schemas.microsoft.com/office/powerpoint/2010/main" val="20559644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3957822" y="480767"/>
            <a:ext cx="3977645" cy="6137789"/>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20400" y="1"/>
            <a:ext cx="1371599" cy="1371599"/>
          </a:xfrm>
          <a:prstGeom prst="rect">
            <a:avLst/>
          </a:prstGeom>
        </p:spPr>
      </p:pic>
      <p:sp>
        <p:nvSpPr>
          <p:cNvPr id="9" name="Title 1"/>
          <p:cNvSpPr>
            <a:spLocks noGrp="1"/>
          </p:cNvSpPr>
          <p:nvPr>
            <p:ph type="title"/>
          </p:nvPr>
        </p:nvSpPr>
        <p:spPr>
          <a:xfrm>
            <a:off x="396533" y="480767"/>
            <a:ext cx="3561289" cy="3007151"/>
          </a:xfrm>
        </p:spPr>
        <p:txBody>
          <a:bodyPr>
            <a:normAutofit/>
          </a:bodyPr>
          <a:lstStyle/>
          <a:p>
            <a:r>
              <a:rPr lang="en-US" dirty="0" smtClean="0">
                <a:solidFill>
                  <a:srgbClr val="C00000"/>
                </a:solidFill>
              </a:rPr>
              <a:t>Using Local LLM with </a:t>
            </a:r>
            <a:r>
              <a:rPr lang="en-US" dirty="0" err="1" smtClean="0">
                <a:solidFill>
                  <a:srgbClr val="C00000"/>
                </a:solidFill>
              </a:rPr>
              <a:t>Ollama</a:t>
            </a:r>
            <a:r>
              <a:rPr lang="en-US" dirty="0" smtClean="0">
                <a:solidFill>
                  <a:srgbClr val="C00000"/>
                </a:solidFill>
              </a:rPr>
              <a:t> for Initial Triaging of Alerts</a:t>
            </a:r>
            <a:endParaRPr lang="en-IN" dirty="0">
              <a:solidFill>
                <a:srgbClr val="C00000"/>
              </a:solidFill>
            </a:endParaRPr>
          </a:p>
        </p:txBody>
      </p:sp>
    </p:spTree>
    <p:extLst>
      <p:ext uri="{BB962C8B-B14F-4D97-AF65-F5344CB8AC3E}">
        <p14:creationId xmlns:p14="http://schemas.microsoft.com/office/powerpoint/2010/main" val="187725508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0517" y="0"/>
            <a:ext cx="9786419" cy="1320800"/>
          </a:xfrm>
        </p:spPr>
        <p:txBody>
          <a:bodyPr/>
          <a:lstStyle/>
          <a:p>
            <a:r>
              <a:rPr lang="en-US" dirty="0" smtClean="0">
                <a:solidFill>
                  <a:srgbClr val="C00000"/>
                </a:solidFill>
              </a:rPr>
              <a:t>Example: </a:t>
            </a:r>
            <a:r>
              <a:rPr lang="en-IN" dirty="0">
                <a:solidFill>
                  <a:srgbClr val="C00000"/>
                </a:solidFill>
              </a:rPr>
              <a:t>SSH authentication failure → alert.</a:t>
            </a:r>
          </a:p>
        </p:txBody>
      </p:sp>
      <p:sp>
        <p:nvSpPr>
          <p:cNvPr id="3" name="Content Placeholder 2"/>
          <p:cNvSpPr>
            <a:spLocks noGrp="1"/>
          </p:cNvSpPr>
          <p:nvPr>
            <p:ph idx="1"/>
          </p:nvPr>
        </p:nvSpPr>
        <p:spPr>
          <a:xfrm>
            <a:off x="460517" y="1150070"/>
            <a:ext cx="10135211" cy="5571241"/>
          </a:xfrm>
        </p:spPr>
        <p:txBody>
          <a:bodyPr numCol="2">
            <a:normAutofit/>
          </a:bodyPr>
          <a:lstStyle/>
          <a:p>
            <a:pPr marL="0" indent="0">
              <a:buNone/>
            </a:pPr>
            <a:r>
              <a:rPr lang="en-IN" dirty="0"/>
              <a:t>{</a:t>
            </a:r>
            <a:endParaRPr lang="en-IN" sz="1400" dirty="0"/>
          </a:p>
          <a:p>
            <a:pPr marL="0" indent="0">
              <a:buNone/>
            </a:pPr>
            <a:r>
              <a:rPr lang="en-IN" sz="1400" dirty="0"/>
              <a:t>  "rule": {</a:t>
            </a:r>
          </a:p>
          <a:p>
            <a:pPr marL="0" indent="0">
              <a:buNone/>
            </a:pPr>
            <a:r>
              <a:rPr lang="en-IN" sz="1400" dirty="0"/>
              <a:t>    "id": "5710",</a:t>
            </a:r>
          </a:p>
          <a:p>
            <a:pPr marL="0" indent="0">
              <a:buNone/>
            </a:pPr>
            <a:r>
              <a:rPr lang="en-IN" sz="1400" dirty="0"/>
              <a:t>    "level": 5,</a:t>
            </a:r>
          </a:p>
          <a:p>
            <a:pPr marL="0" indent="0">
              <a:buNone/>
            </a:pPr>
            <a:r>
              <a:rPr lang="en-IN" sz="1400" dirty="0"/>
              <a:t>    "description": "</a:t>
            </a:r>
            <a:r>
              <a:rPr lang="en-IN" sz="1400" dirty="0" err="1"/>
              <a:t>sshd</a:t>
            </a:r>
            <a:r>
              <a:rPr lang="en-IN" sz="1400" dirty="0"/>
              <a:t>: authentication failed"</a:t>
            </a:r>
          </a:p>
          <a:p>
            <a:pPr marL="0" indent="0">
              <a:buNone/>
            </a:pPr>
            <a:r>
              <a:rPr lang="en-IN" sz="1400" dirty="0"/>
              <a:t>  },</a:t>
            </a:r>
          </a:p>
          <a:p>
            <a:pPr marL="0" indent="0">
              <a:buNone/>
            </a:pPr>
            <a:r>
              <a:rPr lang="en-IN" sz="1400" dirty="0"/>
              <a:t>  "agent": {</a:t>
            </a:r>
          </a:p>
          <a:p>
            <a:pPr marL="0" indent="0">
              <a:buNone/>
            </a:pPr>
            <a:r>
              <a:rPr lang="en-IN" sz="1400" dirty="0"/>
              <a:t>    "name": "web-server-01"</a:t>
            </a:r>
          </a:p>
          <a:p>
            <a:pPr marL="0" indent="0">
              <a:buNone/>
            </a:pPr>
            <a:r>
              <a:rPr lang="en-IN" sz="1400" dirty="0"/>
              <a:t>  },</a:t>
            </a:r>
          </a:p>
          <a:p>
            <a:pPr marL="0" indent="0">
              <a:buNone/>
            </a:pPr>
            <a:r>
              <a:rPr lang="en-IN" sz="1400" dirty="0"/>
              <a:t>  "data": {</a:t>
            </a:r>
          </a:p>
          <a:p>
            <a:pPr marL="0" indent="0">
              <a:buNone/>
            </a:pPr>
            <a:r>
              <a:rPr lang="en-IN" sz="1400" dirty="0"/>
              <a:t>    "</a:t>
            </a:r>
            <a:r>
              <a:rPr lang="en-IN" sz="1400" dirty="0" err="1"/>
              <a:t>srcip</a:t>
            </a:r>
            <a:r>
              <a:rPr lang="en-IN" sz="1400" dirty="0"/>
              <a:t>": "10.10.10.25",</a:t>
            </a:r>
          </a:p>
          <a:p>
            <a:pPr marL="0" indent="0">
              <a:buNone/>
            </a:pPr>
            <a:r>
              <a:rPr lang="en-IN" sz="1400" dirty="0"/>
              <a:t>    "</a:t>
            </a:r>
            <a:r>
              <a:rPr lang="en-IN" sz="1400" dirty="0" err="1"/>
              <a:t>srcuser</a:t>
            </a:r>
            <a:r>
              <a:rPr lang="en-IN" sz="1400" dirty="0"/>
              <a:t>": "admin"</a:t>
            </a:r>
          </a:p>
          <a:p>
            <a:pPr marL="0" indent="0">
              <a:buNone/>
            </a:pPr>
            <a:r>
              <a:rPr lang="en-IN" sz="1400" dirty="0"/>
              <a:t>  }</a:t>
            </a:r>
          </a:p>
          <a:p>
            <a:pPr marL="0" indent="0">
              <a:buNone/>
            </a:pPr>
            <a:r>
              <a:rPr lang="en-IN" sz="1400" dirty="0" smtClean="0"/>
              <a:t>}</a:t>
            </a:r>
          </a:p>
          <a:p>
            <a:pPr marL="0" indent="0">
              <a:buNone/>
            </a:pPr>
            <a:endParaRPr lang="en-US" sz="1400" dirty="0"/>
          </a:p>
          <a:p>
            <a:pPr marL="0" indent="0">
              <a:buNone/>
            </a:pPr>
            <a:endParaRPr lang="en-US" sz="1400" dirty="0" smtClean="0"/>
          </a:p>
          <a:p>
            <a:pPr marL="0" indent="0">
              <a:buNone/>
            </a:pPr>
            <a:r>
              <a:rPr lang="en-IN" sz="1400" dirty="0"/>
              <a:t>Who is 10.10.10.25</a:t>
            </a:r>
            <a:r>
              <a:rPr lang="en-IN" sz="1400" dirty="0" smtClean="0"/>
              <a:t>?</a:t>
            </a:r>
          </a:p>
          <a:p>
            <a:pPr marL="0" indent="0">
              <a:buNone/>
            </a:pPr>
            <a:r>
              <a:rPr lang="en-IN" sz="1400" dirty="0" smtClean="0"/>
              <a:t>Is </a:t>
            </a:r>
            <a:r>
              <a:rPr lang="en-IN" sz="1400" dirty="0"/>
              <a:t>this an internal management server? </a:t>
            </a:r>
            <a:endParaRPr lang="en-IN" sz="1400" dirty="0" smtClean="0"/>
          </a:p>
          <a:p>
            <a:pPr marL="0" indent="0">
              <a:buNone/>
            </a:pPr>
            <a:r>
              <a:rPr lang="en-IN" sz="1400" dirty="0" smtClean="0"/>
              <a:t>Does </a:t>
            </a:r>
            <a:r>
              <a:rPr lang="en-IN" sz="1400" dirty="0"/>
              <a:t>admin normally connect from there</a:t>
            </a:r>
            <a:r>
              <a:rPr lang="en-IN" sz="1400" dirty="0" smtClean="0"/>
              <a:t>?</a:t>
            </a:r>
          </a:p>
          <a:p>
            <a:pPr marL="0" indent="0">
              <a:buNone/>
            </a:pPr>
            <a:r>
              <a:rPr lang="en-IN" sz="1400" dirty="0" smtClean="0"/>
              <a:t> </a:t>
            </a:r>
            <a:r>
              <a:rPr lang="en-IN" sz="1400" dirty="0"/>
              <a:t>Has admin connected to web-server-01 before? </a:t>
            </a:r>
            <a:endParaRPr lang="en-IN" sz="1400" dirty="0" smtClean="0"/>
          </a:p>
          <a:p>
            <a:pPr marL="0" indent="0">
              <a:buNone/>
            </a:pPr>
            <a:r>
              <a:rPr lang="en-IN" sz="1400" dirty="0" smtClean="0"/>
              <a:t>How </a:t>
            </a:r>
            <a:r>
              <a:rPr lang="en-IN" sz="1400" dirty="0"/>
              <a:t>many failures occurred? </a:t>
            </a:r>
            <a:endParaRPr lang="en-IN" sz="1400" dirty="0" smtClean="0"/>
          </a:p>
          <a:p>
            <a:pPr marL="0" indent="0">
              <a:buNone/>
            </a:pPr>
            <a:r>
              <a:rPr lang="en-IN" sz="1400" dirty="0" smtClean="0"/>
              <a:t>Was </a:t>
            </a:r>
            <a:r>
              <a:rPr lang="en-IN" sz="1400" dirty="0"/>
              <a:t>there a successful login afterward? </a:t>
            </a:r>
            <a:endParaRPr lang="en-IN" sz="1400" dirty="0" smtClean="0"/>
          </a:p>
          <a:p>
            <a:pPr marL="0" indent="0">
              <a:buNone/>
            </a:pPr>
            <a:r>
              <a:rPr lang="en-IN" sz="1400" dirty="0" smtClean="0"/>
              <a:t>What </a:t>
            </a:r>
            <a:r>
              <a:rPr lang="en-IN" sz="1400" dirty="0"/>
              <a:t>happened after login</a:t>
            </a:r>
            <a:r>
              <a:rPr lang="en-IN" sz="1400" dirty="0" smtClean="0"/>
              <a:t>?</a:t>
            </a:r>
          </a:p>
          <a:p>
            <a:pPr marL="0" indent="0">
              <a:buNone/>
            </a:pPr>
            <a:r>
              <a:rPr lang="en-IN" sz="1400" dirty="0" smtClean="0"/>
              <a:t>Is </a:t>
            </a:r>
            <a:r>
              <a:rPr lang="en-IN" sz="1400" dirty="0"/>
              <a:t>the destination server critical?</a:t>
            </a:r>
          </a:p>
        </p:txBody>
      </p:sp>
    </p:spTree>
    <p:extLst>
      <p:ext uri="{BB962C8B-B14F-4D97-AF65-F5344CB8AC3E}">
        <p14:creationId xmlns:p14="http://schemas.microsoft.com/office/powerpoint/2010/main" val="219153521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2493" y="666161"/>
            <a:ext cx="9013420" cy="597031"/>
          </a:xfrm>
        </p:spPr>
        <p:txBody>
          <a:bodyPr>
            <a:normAutofit fontScale="90000"/>
          </a:bodyPr>
          <a:lstStyle/>
          <a:p>
            <a:r>
              <a:rPr lang="en-IN" dirty="0">
                <a:solidFill>
                  <a:srgbClr val="C00000"/>
                </a:solidFill>
              </a:rPr>
              <a:t>SSH brute-force false positive</a:t>
            </a:r>
          </a:p>
        </p:txBody>
      </p:sp>
      <p:sp>
        <p:nvSpPr>
          <p:cNvPr id="3" name="Content Placeholder 2"/>
          <p:cNvSpPr>
            <a:spLocks noGrp="1"/>
          </p:cNvSpPr>
          <p:nvPr>
            <p:ph idx="1"/>
          </p:nvPr>
        </p:nvSpPr>
        <p:spPr/>
        <p:txBody>
          <a:bodyPr>
            <a:normAutofit fontScale="85000" lnSpcReduction="20000"/>
          </a:bodyPr>
          <a:lstStyle/>
          <a:p>
            <a:r>
              <a:rPr lang="en-IN" dirty="0"/>
              <a:t>10:00:01 SSH authentication failed</a:t>
            </a:r>
          </a:p>
          <a:p>
            <a:r>
              <a:rPr lang="en-IN" dirty="0"/>
              <a:t>10:00:02 SSH authentication failed</a:t>
            </a:r>
          </a:p>
          <a:p>
            <a:r>
              <a:rPr lang="en-IN" dirty="0"/>
              <a:t>10:00:03 SSH authentication failed</a:t>
            </a:r>
          </a:p>
          <a:p>
            <a:r>
              <a:rPr lang="en-IN" dirty="0"/>
              <a:t>10:00:04 SSH authentication failed</a:t>
            </a:r>
          </a:p>
          <a:p>
            <a:r>
              <a:rPr lang="en-IN" dirty="0"/>
              <a:t>10:00:05 SSH authentication </a:t>
            </a:r>
            <a:r>
              <a:rPr lang="en-IN" dirty="0" smtClean="0"/>
              <a:t>failed</a:t>
            </a:r>
          </a:p>
          <a:p>
            <a:endParaRPr lang="en-US" dirty="0"/>
          </a:p>
          <a:p>
            <a:r>
              <a:rPr lang="en-IN" dirty="0"/>
              <a:t>Source IP: 10.10.1.20 Source hostname: jump-server Destination: prod-web-01 Username: </a:t>
            </a:r>
            <a:r>
              <a:rPr lang="en-IN" dirty="0" smtClean="0"/>
              <a:t>admin</a:t>
            </a:r>
          </a:p>
          <a:p>
            <a:endParaRPr lang="en-US" dirty="0"/>
          </a:p>
          <a:p>
            <a:r>
              <a:rPr lang="en-IN" dirty="0"/>
              <a:t>10.10.1.20 = approved IT jump server </a:t>
            </a:r>
            <a:r>
              <a:rPr lang="en-IN" dirty="0" smtClean="0"/>
              <a:t/>
            </a:r>
            <a:br>
              <a:rPr lang="en-IN" dirty="0" smtClean="0"/>
            </a:br>
            <a:r>
              <a:rPr lang="en-IN" dirty="0" smtClean="0"/>
              <a:t>admin </a:t>
            </a:r>
            <a:r>
              <a:rPr lang="en-IN" dirty="0"/>
              <a:t>= system administrator admin regularly connects to </a:t>
            </a:r>
            <a:r>
              <a:rPr lang="en-IN" dirty="0" smtClean="0"/>
              <a:t>prod-web-01</a:t>
            </a:r>
          </a:p>
          <a:p>
            <a:endParaRPr lang="en-US" dirty="0"/>
          </a:p>
          <a:p>
            <a:r>
              <a:rPr lang="en-IN" dirty="0" smtClean="0"/>
              <a:t>Traditional SIEM will return 5 </a:t>
            </a:r>
            <a:r>
              <a:rPr lang="en-IN" dirty="0"/>
              <a:t>failed SSH attempts ↓ Brute force ↓ HIGH</a:t>
            </a:r>
          </a:p>
        </p:txBody>
      </p:sp>
    </p:spTree>
    <p:extLst>
      <p:ext uri="{BB962C8B-B14F-4D97-AF65-F5344CB8AC3E}">
        <p14:creationId xmlns:p14="http://schemas.microsoft.com/office/powerpoint/2010/main" val="302534485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2493" y="666161"/>
            <a:ext cx="9013420" cy="597031"/>
          </a:xfrm>
        </p:spPr>
        <p:txBody>
          <a:bodyPr>
            <a:normAutofit fontScale="90000"/>
          </a:bodyPr>
          <a:lstStyle/>
          <a:p>
            <a:r>
              <a:rPr lang="en-IN" dirty="0">
                <a:solidFill>
                  <a:srgbClr val="C00000"/>
                </a:solidFill>
              </a:rPr>
              <a:t>SSH brute-force false positive</a:t>
            </a:r>
          </a:p>
        </p:txBody>
      </p:sp>
      <p:sp>
        <p:nvSpPr>
          <p:cNvPr id="4" name="Content Placeholder 3"/>
          <p:cNvSpPr>
            <a:spLocks noGrp="1"/>
          </p:cNvSpPr>
          <p:nvPr>
            <p:ph idx="1"/>
          </p:nvPr>
        </p:nvSpPr>
        <p:spPr>
          <a:xfrm>
            <a:off x="697583" y="1593130"/>
            <a:ext cx="9038332" cy="4863011"/>
          </a:xfrm>
        </p:spPr>
        <p:txBody>
          <a:bodyPr numCol="2">
            <a:noAutofit/>
          </a:bodyPr>
          <a:lstStyle/>
          <a:p>
            <a:pPr marL="0" indent="0">
              <a:buNone/>
            </a:pPr>
            <a:r>
              <a:rPr lang="en-IN" sz="1400" dirty="0"/>
              <a:t>Alert:</a:t>
            </a:r>
          </a:p>
          <a:p>
            <a:pPr marL="0" indent="0">
              <a:buNone/>
            </a:pPr>
            <a:r>
              <a:rPr lang="en-IN" sz="1400" dirty="0"/>
              <a:t>5 SSH failures in 10 seconds.</a:t>
            </a:r>
          </a:p>
          <a:p>
            <a:pPr marL="0" indent="0">
              <a:buNone/>
            </a:pPr>
            <a:endParaRPr lang="en-IN" sz="1400" dirty="0"/>
          </a:p>
          <a:p>
            <a:pPr marL="0" indent="0">
              <a:buNone/>
            </a:pPr>
            <a:r>
              <a:rPr lang="en-IN" sz="1400" dirty="0"/>
              <a:t>Context:</a:t>
            </a:r>
          </a:p>
          <a:p>
            <a:pPr marL="0" indent="0">
              <a:buNone/>
            </a:pPr>
            <a:r>
              <a:rPr lang="en-IN" sz="1400" dirty="0"/>
              <a:t>Source: 10.10.1.20</a:t>
            </a:r>
          </a:p>
          <a:p>
            <a:pPr marL="0" indent="0">
              <a:buNone/>
            </a:pPr>
            <a:r>
              <a:rPr lang="en-IN" sz="1400" dirty="0"/>
              <a:t>Source hostname: jump-server</a:t>
            </a:r>
          </a:p>
          <a:p>
            <a:pPr marL="0" indent="0">
              <a:buNone/>
            </a:pPr>
            <a:r>
              <a:rPr lang="en-IN" sz="1400" dirty="0"/>
              <a:t>Destination: prod-web-01</a:t>
            </a:r>
          </a:p>
          <a:p>
            <a:pPr marL="0" indent="0">
              <a:buNone/>
            </a:pPr>
            <a:r>
              <a:rPr lang="en-IN" sz="1400" dirty="0"/>
              <a:t>User: admin</a:t>
            </a:r>
          </a:p>
          <a:p>
            <a:pPr marL="0" indent="0">
              <a:buNone/>
            </a:pPr>
            <a:endParaRPr lang="en-IN" sz="1400" dirty="0"/>
          </a:p>
          <a:p>
            <a:pPr marL="0" indent="0">
              <a:buNone/>
            </a:pPr>
            <a:r>
              <a:rPr lang="en-IN" sz="1400" dirty="0"/>
              <a:t>Historical </a:t>
            </a:r>
            <a:r>
              <a:rPr lang="en-IN" sz="1400" dirty="0" err="1"/>
              <a:t>behavior</a:t>
            </a:r>
            <a:r>
              <a:rPr lang="en-IN" sz="1400" dirty="0"/>
              <a:t>:</a:t>
            </a:r>
          </a:p>
          <a:p>
            <a:pPr marL="0" indent="0">
              <a:buNone/>
            </a:pPr>
            <a:r>
              <a:rPr lang="en-IN" sz="1400" dirty="0"/>
              <a:t>admin normally accesses prod-web-01 from 10.10.1.20</a:t>
            </a:r>
          </a:p>
          <a:p>
            <a:pPr marL="0" indent="0">
              <a:buNone/>
            </a:pPr>
            <a:r>
              <a:rPr lang="en-IN" sz="1400" dirty="0"/>
              <a:t>Average failed attempts per session: 3</a:t>
            </a:r>
          </a:p>
          <a:p>
            <a:pPr marL="0" indent="0">
              <a:buNone/>
            </a:pPr>
            <a:r>
              <a:rPr lang="en-IN" sz="1400" dirty="0"/>
              <a:t>Successful login occurred 8 seconds later.</a:t>
            </a:r>
          </a:p>
          <a:p>
            <a:pPr marL="0" indent="0">
              <a:buNone/>
            </a:pPr>
            <a:endParaRPr lang="en-IN" sz="1400" dirty="0"/>
          </a:p>
          <a:p>
            <a:pPr marL="0" indent="0">
              <a:buNone/>
            </a:pPr>
            <a:r>
              <a:rPr lang="en-IN" sz="1400" dirty="0"/>
              <a:t>Asset:</a:t>
            </a:r>
          </a:p>
          <a:p>
            <a:pPr marL="0" indent="0">
              <a:buNone/>
            </a:pPr>
            <a:r>
              <a:rPr lang="en-IN" sz="1400" dirty="0"/>
              <a:t>prod-web-01 = production </a:t>
            </a:r>
            <a:r>
              <a:rPr lang="en-IN" sz="1400" dirty="0" smtClean="0"/>
              <a:t>server</a:t>
            </a:r>
          </a:p>
          <a:p>
            <a:pPr marL="0" indent="0">
              <a:buNone/>
            </a:pPr>
            <a:endParaRPr lang="en-US" sz="1400" dirty="0"/>
          </a:p>
          <a:p>
            <a:pPr marL="0" indent="0">
              <a:buNone/>
            </a:pPr>
            <a:r>
              <a:rPr lang="en-IN" sz="1400" dirty="0"/>
              <a:t>{</a:t>
            </a:r>
          </a:p>
          <a:p>
            <a:pPr marL="0" indent="0">
              <a:buNone/>
            </a:pPr>
            <a:r>
              <a:rPr lang="en-IN" sz="1400" dirty="0"/>
              <a:t>  "classification": "LIKELY_BENIGN",</a:t>
            </a:r>
          </a:p>
          <a:p>
            <a:pPr marL="0" indent="0">
              <a:buNone/>
            </a:pPr>
            <a:r>
              <a:rPr lang="en-IN" sz="1400" dirty="0"/>
              <a:t>  "confidence": 0.93,</a:t>
            </a:r>
          </a:p>
          <a:p>
            <a:pPr marL="0" indent="0">
              <a:buNone/>
            </a:pPr>
            <a:r>
              <a:rPr lang="en-IN" sz="1400" dirty="0"/>
              <a:t>  "reason": "Authentication failures originated from the organization's</a:t>
            </a:r>
          </a:p>
          <a:p>
            <a:pPr marL="0" indent="0">
              <a:buNone/>
            </a:pPr>
            <a:r>
              <a:rPr lang="en-IN" sz="1400" dirty="0"/>
              <a:t>             approved jump server and match historical </a:t>
            </a:r>
            <a:r>
              <a:rPr lang="en-IN" sz="1400" dirty="0" err="1"/>
              <a:t>behavior</a:t>
            </a:r>
            <a:r>
              <a:rPr lang="en-IN" sz="1400" dirty="0"/>
              <a:t>.",</a:t>
            </a:r>
          </a:p>
          <a:p>
            <a:pPr marL="0" indent="0">
              <a:buNone/>
            </a:pPr>
            <a:r>
              <a:rPr lang="en-IN" sz="1400" dirty="0"/>
              <a:t>  "</a:t>
            </a:r>
            <a:r>
              <a:rPr lang="en-IN" sz="1400" dirty="0" err="1"/>
              <a:t>recommended_action</a:t>
            </a:r>
            <a:r>
              <a:rPr lang="en-IN" sz="1400" dirty="0"/>
              <a:t>": "</a:t>
            </a:r>
            <a:r>
              <a:rPr lang="en-IN" sz="1400" dirty="0" err="1"/>
              <a:t>reduce_priority</a:t>
            </a:r>
            <a:r>
              <a:rPr lang="en-IN" sz="1400" dirty="0"/>
              <a:t>"</a:t>
            </a:r>
          </a:p>
          <a:p>
            <a:pPr marL="0" indent="0">
              <a:buNone/>
            </a:pPr>
            <a:r>
              <a:rPr lang="en-IN" sz="1400" dirty="0"/>
              <a:t>}</a:t>
            </a:r>
          </a:p>
        </p:txBody>
      </p:sp>
    </p:spTree>
    <p:extLst>
      <p:ext uri="{BB962C8B-B14F-4D97-AF65-F5344CB8AC3E}">
        <p14:creationId xmlns:p14="http://schemas.microsoft.com/office/powerpoint/2010/main" val="322947781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0518" y="197963"/>
            <a:ext cx="8325264" cy="801278"/>
          </a:xfrm>
        </p:spPr>
        <p:txBody>
          <a:bodyPr/>
          <a:lstStyle/>
          <a:p>
            <a:r>
              <a:rPr lang="en-IN" dirty="0">
                <a:solidFill>
                  <a:srgbClr val="C00000"/>
                </a:solidFill>
              </a:rPr>
              <a:t>PowerShell encoded command</a:t>
            </a:r>
          </a:p>
        </p:txBody>
      </p:sp>
      <p:sp>
        <p:nvSpPr>
          <p:cNvPr id="3" name="Content Placeholder 2"/>
          <p:cNvSpPr>
            <a:spLocks noGrp="1"/>
          </p:cNvSpPr>
          <p:nvPr>
            <p:ph idx="1"/>
          </p:nvPr>
        </p:nvSpPr>
        <p:spPr>
          <a:xfrm>
            <a:off x="188536" y="1065229"/>
            <a:ext cx="11349871" cy="5599521"/>
          </a:xfrm>
        </p:spPr>
        <p:txBody>
          <a:bodyPr numCol="2">
            <a:noAutofit/>
          </a:bodyPr>
          <a:lstStyle/>
          <a:p>
            <a:pPr marL="0" indent="0">
              <a:buNone/>
            </a:pPr>
            <a:r>
              <a:rPr lang="en-IN" sz="1400" dirty="0"/>
              <a:t>User: administrator</a:t>
            </a:r>
          </a:p>
          <a:p>
            <a:pPr marL="0" indent="0">
              <a:buNone/>
            </a:pPr>
            <a:r>
              <a:rPr lang="en-IN" sz="1400" dirty="0"/>
              <a:t>Host: win-admin-01</a:t>
            </a:r>
          </a:p>
          <a:p>
            <a:pPr marL="0" indent="0">
              <a:buNone/>
            </a:pPr>
            <a:r>
              <a:rPr lang="en-IN" sz="1400" dirty="0"/>
              <a:t>Command:</a:t>
            </a:r>
          </a:p>
          <a:p>
            <a:pPr marL="0" indent="0">
              <a:buNone/>
            </a:pPr>
            <a:r>
              <a:rPr lang="en-IN" sz="1400" dirty="0"/>
              <a:t>powershell.exe -</a:t>
            </a:r>
            <a:r>
              <a:rPr lang="en-IN" sz="1400" dirty="0" err="1"/>
              <a:t>ExecutionPolicy</a:t>
            </a:r>
            <a:r>
              <a:rPr lang="en-IN" sz="1400" dirty="0"/>
              <a:t> Bypass -File C:\</a:t>
            </a:r>
            <a:r>
              <a:rPr lang="en-IN" sz="1400" dirty="0" smtClean="0"/>
              <a:t>Scripts\patch.ps1</a:t>
            </a:r>
            <a:endParaRPr lang="en-IN" sz="1400" dirty="0"/>
          </a:p>
          <a:p>
            <a:pPr marL="0" indent="0">
              <a:buNone/>
            </a:pPr>
            <a:r>
              <a:rPr lang="en-IN" sz="1400" dirty="0"/>
              <a:t>patch.ps1</a:t>
            </a:r>
          </a:p>
          <a:p>
            <a:pPr marL="0" indent="0">
              <a:buNone/>
            </a:pPr>
            <a:r>
              <a:rPr lang="en-IN" sz="1400" dirty="0"/>
              <a:t>→ executed every Sunday</a:t>
            </a:r>
          </a:p>
          <a:p>
            <a:pPr marL="0" indent="0">
              <a:buNone/>
            </a:pPr>
            <a:r>
              <a:rPr lang="en-IN" sz="1400" dirty="0"/>
              <a:t>→ same administrator</a:t>
            </a:r>
          </a:p>
          <a:p>
            <a:pPr marL="0" indent="0">
              <a:buNone/>
            </a:pPr>
            <a:r>
              <a:rPr lang="en-IN" sz="1400" dirty="0"/>
              <a:t>→ same server</a:t>
            </a:r>
          </a:p>
          <a:p>
            <a:pPr marL="0" indent="0">
              <a:buNone/>
            </a:pPr>
            <a:r>
              <a:rPr lang="en-IN" sz="1400" dirty="0"/>
              <a:t>→ same hash</a:t>
            </a:r>
          </a:p>
          <a:p>
            <a:pPr marL="0" indent="0">
              <a:buNone/>
            </a:pPr>
            <a:r>
              <a:rPr lang="en-IN" sz="1400" dirty="0"/>
              <a:t>→ same parent process</a:t>
            </a:r>
          </a:p>
          <a:p>
            <a:pPr marL="0" indent="0">
              <a:buNone/>
            </a:pPr>
            <a:r>
              <a:rPr lang="en-IN" sz="1400" dirty="0"/>
              <a:t>→ same destination </a:t>
            </a:r>
            <a:r>
              <a:rPr lang="en-IN" sz="1400" dirty="0" smtClean="0"/>
              <a:t>servers</a:t>
            </a:r>
          </a:p>
          <a:p>
            <a:pPr marL="0" indent="0">
              <a:buNone/>
            </a:pPr>
            <a:r>
              <a:rPr lang="en-IN" sz="1400" dirty="0"/>
              <a:t>{</a:t>
            </a:r>
          </a:p>
          <a:p>
            <a:pPr marL="0" indent="0">
              <a:buNone/>
            </a:pPr>
            <a:r>
              <a:rPr lang="en-IN" sz="1400" dirty="0"/>
              <a:t>  "classification": "BENIGN_ADMIN_ACTIVITY",</a:t>
            </a:r>
          </a:p>
          <a:p>
            <a:pPr marL="0" indent="0">
              <a:buNone/>
            </a:pPr>
            <a:r>
              <a:rPr lang="en-IN" sz="1400" dirty="0"/>
              <a:t>  "confidence": 0.97,</a:t>
            </a:r>
          </a:p>
          <a:p>
            <a:pPr marL="0" indent="0">
              <a:buNone/>
            </a:pPr>
            <a:r>
              <a:rPr lang="en-IN" sz="1400" dirty="0"/>
              <a:t>  "</a:t>
            </a:r>
            <a:r>
              <a:rPr lang="en-IN" sz="1400" dirty="0" err="1"/>
              <a:t>risk_reduction</a:t>
            </a:r>
            <a:r>
              <a:rPr lang="en-IN" sz="1400" dirty="0"/>
              <a:t>": "high",</a:t>
            </a:r>
          </a:p>
          <a:p>
            <a:pPr marL="0" indent="0">
              <a:buNone/>
            </a:pPr>
            <a:r>
              <a:rPr lang="en-IN" sz="1400" dirty="0"/>
              <a:t>  "reason": "Execution matches an established patching automation pattern."</a:t>
            </a:r>
          </a:p>
          <a:p>
            <a:pPr marL="0" indent="0">
              <a:buNone/>
            </a:pPr>
            <a:r>
              <a:rPr lang="en-IN" sz="1400" dirty="0"/>
              <a:t>}</a:t>
            </a:r>
            <a:endParaRPr lang="en-US" sz="1400" dirty="0" smtClean="0"/>
          </a:p>
          <a:p>
            <a:pPr marL="0" indent="0">
              <a:buNone/>
            </a:pPr>
            <a:endParaRPr lang="en-US" sz="1400" dirty="0"/>
          </a:p>
          <a:p>
            <a:pPr marL="0" indent="0">
              <a:buNone/>
            </a:pPr>
            <a:r>
              <a:rPr lang="en-IN" sz="1400" dirty="0" smtClean="0"/>
              <a:t>PowerShell </a:t>
            </a:r>
            <a:r>
              <a:rPr lang="en-IN" sz="1400" dirty="0"/>
              <a:t>execution</a:t>
            </a:r>
          </a:p>
          <a:p>
            <a:pPr marL="0" indent="0">
              <a:buNone/>
            </a:pPr>
            <a:r>
              <a:rPr lang="en-IN" sz="1400" dirty="0"/>
              <a:t>+</a:t>
            </a:r>
          </a:p>
          <a:p>
            <a:pPr marL="0" indent="0">
              <a:buNone/>
            </a:pPr>
            <a:r>
              <a:rPr lang="en-IN" sz="1400" dirty="0" err="1"/>
              <a:t>ExecutionPolicy</a:t>
            </a:r>
            <a:r>
              <a:rPr lang="en-IN" sz="1400" dirty="0"/>
              <a:t> Bypass</a:t>
            </a:r>
          </a:p>
          <a:p>
            <a:pPr marL="0" indent="0">
              <a:buNone/>
            </a:pPr>
            <a:r>
              <a:rPr lang="en-IN" sz="1400" dirty="0"/>
              <a:t>+</a:t>
            </a:r>
          </a:p>
          <a:p>
            <a:pPr marL="0" indent="0">
              <a:buNone/>
            </a:pPr>
            <a:r>
              <a:rPr lang="en-IN" sz="1400" dirty="0"/>
              <a:t>known script</a:t>
            </a:r>
          </a:p>
          <a:p>
            <a:pPr marL="0" indent="0">
              <a:buNone/>
            </a:pPr>
            <a:r>
              <a:rPr lang="en-IN" sz="1400" dirty="0"/>
              <a:t>+</a:t>
            </a:r>
          </a:p>
          <a:p>
            <a:pPr marL="0" indent="0">
              <a:buNone/>
            </a:pPr>
            <a:r>
              <a:rPr lang="en-IN" sz="1400" dirty="0"/>
              <a:t>known hash</a:t>
            </a:r>
          </a:p>
          <a:p>
            <a:pPr marL="0" indent="0">
              <a:buNone/>
            </a:pPr>
            <a:r>
              <a:rPr lang="en-IN" sz="1400" dirty="0"/>
              <a:t>+</a:t>
            </a:r>
          </a:p>
          <a:p>
            <a:pPr marL="0" indent="0">
              <a:buNone/>
            </a:pPr>
            <a:r>
              <a:rPr lang="en-IN" sz="1400" dirty="0"/>
              <a:t>known user</a:t>
            </a:r>
          </a:p>
          <a:p>
            <a:pPr marL="0" indent="0">
              <a:buNone/>
            </a:pPr>
            <a:r>
              <a:rPr lang="en-IN" sz="1400" dirty="0"/>
              <a:t>+</a:t>
            </a:r>
          </a:p>
          <a:p>
            <a:pPr marL="0" indent="0">
              <a:buNone/>
            </a:pPr>
            <a:r>
              <a:rPr lang="en-IN" sz="1400" dirty="0"/>
              <a:t>known schedule</a:t>
            </a:r>
          </a:p>
          <a:p>
            <a:pPr marL="0" indent="0">
              <a:buNone/>
            </a:pPr>
            <a:r>
              <a:rPr lang="en-IN" sz="1400" dirty="0"/>
              <a:t>+</a:t>
            </a:r>
          </a:p>
          <a:p>
            <a:pPr marL="0" indent="0">
              <a:buNone/>
            </a:pPr>
            <a:r>
              <a:rPr lang="en-IN" sz="1400" dirty="0"/>
              <a:t>known server</a:t>
            </a:r>
          </a:p>
          <a:p>
            <a:pPr marL="0" indent="0">
              <a:buNone/>
            </a:pPr>
            <a:r>
              <a:rPr lang="en-IN" sz="1400" dirty="0"/>
              <a:t>=</a:t>
            </a:r>
          </a:p>
          <a:p>
            <a:pPr marL="0" indent="0">
              <a:buNone/>
            </a:pPr>
            <a:r>
              <a:rPr lang="en-IN" sz="1400" dirty="0"/>
              <a:t>likely administrative automation</a:t>
            </a:r>
          </a:p>
        </p:txBody>
      </p:sp>
    </p:spTree>
    <p:extLst>
      <p:ext uri="{BB962C8B-B14F-4D97-AF65-F5344CB8AC3E}">
        <p14:creationId xmlns:p14="http://schemas.microsoft.com/office/powerpoint/2010/main" val="354874873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C00000"/>
                </a:solidFill>
              </a:rPr>
              <a:t>File Integrity Monitoring false positive</a:t>
            </a:r>
          </a:p>
        </p:txBody>
      </p:sp>
      <p:sp>
        <p:nvSpPr>
          <p:cNvPr id="3" name="Content Placeholder 2"/>
          <p:cNvSpPr>
            <a:spLocks noGrp="1"/>
          </p:cNvSpPr>
          <p:nvPr>
            <p:ph idx="1"/>
          </p:nvPr>
        </p:nvSpPr>
        <p:spPr>
          <a:xfrm>
            <a:off x="677334" y="1555424"/>
            <a:ext cx="10484003" cy="5566528"/>
          </a:xfrm>
        </p:spPr>
        <p:txBody>
          <a:bodyPr numCol="2">
            <a:normAutofit fontScale="85000" lnSpcReduction="20000"/>
          </a:bodyPr>
          <a:lstStyle/>
          <a:p>
            <a:r>
              <a:rPr lang="en-IN" dirty="0"/>
              <a:t>/</a:t>
            </a:r>
            <a:r>
              <a:rPr lang="en-IN" dirty="0" err="1"/>
              <a:t>etc</a:t>
            </a:r>
            <a:r>
              <a:rPr lang="en-IN" dirty="0"/>
              <a:t>/</a:t>
            </a:r>
            <a:r>
              <a:rPr lang="en-IN" dirty="0" err="1"/>
              <a:t>passwd</a:t>
            </a:r>
            <a:r>
              <a:rPr lang="en-IN" dirty="0"/>
              <a:t> </a:t>
            </a:r>
            <a:r>
              <a:rPr lang="en-IN" dirty="0" smtClean="0"/>
              <a:t>modified</a:t>
            </a:r>
          </a:p>
          <a:p>
            <a:pPr marL="0" indent="0">
              <a:buNone/>
            </a:pPr>
            <a:r>
              <a:rPr lang="en-US" dirty="0"/>
              <a:t>Package update</a:t>
            </a:r>
          </a:p>
          <a:p>
            <a:pPr marL="0" indent="0">
              <a:buNone/>
            </a:pPr>
            <a:r>
              <a:rPr lang="en-US" dirty="0"/>
              <a:t>     ↓</a:t>
            </a:r>
          </a:p>
          <a:p>
            <a:pPr marL="0" indent="0">
              <a:buNone/>
            </a:pPr>
            <a:r>
              <a:rPr lang="en-US" dirty="0"/>
              <a:t>apt</a:t>
            </a:r>
          </a:p>
          <a:p>
            <a:pPr marL="0" indent="0">
              <a:buNone/>
            </a:pPr>
            <a:r>
              <a:rPr lang="en-US" dirty="0"/>
              <a:t>     ↓</a:t>
            </a:r>
          </a:p>
          <a:p>
            <a:pPr marL="0" indent="0">
              <a:buNone/>
            </a:pPr>
            <a:r>
              <a:rPr lang="en-US" dirty="0" err="1"/>
              <a:t>passwd</a:t>
            </a:r>
            <a:r>
              <a:rPr lang="en-US" dirty="0"/>
              <a:t> modified</a:t>
            </a:r>
          </a:p>
          <a:p>
            <a:pPr marL="0" indent="0">
              <a:buNone/>
            </a:pPr>
            <a:r>
              <a:rPr lang="en-US" dirty="0"/>
              <a:t>     ↓</a:t>
            </a:r>
          </a:p>
          <a:p>
            <a:pPr marL="0" indent="0">
              <a:buNone/>
            </a:pPr>
            <a:r>
              <a:rPr lang="en-US" dirty="0"/>
              <a:t>package </a:t>
            </a:r>
            <a:r>
              <a:rPr lang="en-US" dirty="0" smtClean="0"/>
              <a:t>installation</a:t>
            </a:r>
          </a:p>
          <a:p>
            <a:pPr marL="0" indent="0">
              <a:buNone/>
            </a:pPr>
            <a:endParaRPr lang="en-US" dirty="0"/>
          </a:p>
          <a:p>
            <a:pPr marL="0" indent="0">
              <a:buNone/>
            </a:pPr>
            <a:r>
              <a:rPr lang="en-US" dirty="0"/>
              <a:t>FIM alert:</a:t>
            </a:r>
          </a:p>
          <a:p>
            <a:pPr marL="0" indent="0">
              <a:buNone/>
            </a:pPr>
            <a:r>
              <a:rPr lang="en-US" dirty="0"/>
              <a:t> /</a:t>
            </a:r>
            <a:r>
              <a:rPr lang="en-US" dirty="0" err="1"/>
              <a:t>etc</a:t>
            </a:r>
            <a:r>
              <a:rPr lang="en-US" dirty="0"/>
              <a:t>/</a:t>
            </a:r>
            <a:r>
              <a:rPr lang="en-US" dirty="0" err="1"/>
              <a:t>passwd</a:t>
            </a:r>
            <a:r>
              <a:rPr lang="en-US" dirty="0"/>
              <a:t> modified</a:t>
            </a:r>
          </a:p>
          <a:p>
            <a:pPr marL="0" indent="0">
              <a:buNone/>
            </a:pPr>
            <a:endParaRPr lang="en-US" dirty="0"/>
          </a:p>
          <a:p>
            <a:pPr marL="0" indent="0">
              <a:buNone/>
            </a:pPr>
            <a:r>
              <a:rPr lang="en-US" dirty="0"/>
              <a:t>Process:</a:t>
            </a:r>
          </a:p>
          <a:p>
            <a:pPr marL="0" indent="0">
              <a:buNone/>
            </a:pPr>
            <a:r>
              <a:rPr lang="en-US" dirty="0"/>
              <a:t> apt</a:t>
            </a:r>
          </a:p>
          <a:p>
            <a:pPr marL="0" indent="0">
              <a:buNone/>
            </a:pPr>
            <a:endParaRPr lang="en-US" dirty="0"/>
          </a:p>
          <a:p>
            <a:pPr marL="0" indent="0">
              <a:buNone/>
            </a:pPr>
            <a:r>
              <a:rPr lang="en-US" dirty="0"/>
              <a:t>Package:</a:t>
            </a:r>
          </a:p>
          <a:p>
            <a:pPr marL="0" indent="0">
              <a:buNone/>
            </a:pPr>
            <a:r>
              <a:rPr lang="en-US" dirty="0"/>
              <a:t> </a:t>
            </a:r>
            <a:r>
              <a:rPr lang="en-US" dirty="0" err="1"/>
              <a:t>openssl</a:t>
            </a:r>
            <a:endParaRPr lang="en-US" dirty="0"/>
          </a:p>
          <a:p>
            <a:pPr marL="0" indent="0">
              <a:buNone/>
            </a:pPr>
            <a:endParaRPr lang="en-US" dirty="0"/>
          </a:p>
          <a:p>
            <a:pPr marL="0" indent="0">
              <a:buNone/>
            </a:pPr>
            <a:r>
              <a:rPr lang="en-US" dirty="0"/>
              <a:t>User:</a:t>
            </a:r>
          </a:p>
          <a:p>
            <a:pPr marL="0" indent="0">
              <a:buNone/>
            </a:pPr>
            <a:r>
              <a:rPr lang="en-US" dirty="0"/>
              <a:t> root</a:t>
            </a:r>
          </a:p>
          <a:p>
            <a:pPr marL="0" indent="0">
              <a:buNone/>
            </a:pPr>
            <a:endParaRPr lang="en-US" dirty="0"/>
          </a:p>
          <a:p>
            <a:pPr marL="0" indent="0">
              <a:buNone/>
            </a:pPr>
            <a:r>
              <a:rPr lang="en-US" dirty="0"/>
              <a:t>Change:</a:t>
            </a:r>
          </a:p>
          <a:p>
            <a:pPr marL="0" indent="0">
              <a:buNone/>
            </a:pPr>
            <a:r>
              <a:rPr lang="en-US" dirty="0"/>
              <a:t> expected package installation</a:t>
            </a:r>
          </a:p>
          <a:p>
            <a:pPr marL="0" indent="0">
              <a:buNone/>
            </a:pPr>
            <a:endParaRPr lang="en-US" dirty="0"/>
          </a:p>
          <a:p>
            <a:pPr marL="0" indent="0">
              <a:buNone/>
            </a:pPr>
            <a:r>
              <a:rPr lang="en-US" dirty="0"/>
              <a:t>Previous behavior:</a:t>
            </a:r>
          </a:p>
          <a:p>
            <a:pPr marL="0" indent="0">
              <a:buNone/>
            </a:pPr>
            <a:r>
              <a:rPr lang="en-US" dirty="0"/>
              <a:t> monthly patch </a:t>
            </a:r>
            <a:r>
              <a:rPr lang="en-US" dirty="0" smtClean="0"/>
              <a:t>cycle</a:t>
            </a:r>
          </a:p>
          <a:p>
            <a:endParaRPr lang="en-US" dirty="0"/>
          </a:p>
          <a:p>
            <a:pPr marL="0" indent="0">
              <a:buNone/>
            </a:pPr>
            <a:r>
              <a:rPr lang="en-IN" dirty="0"/>
              <a:t>LIKELY_BENIGN</a:t>
            </a:r>
          </a:p>
          <a:p>
            <a:pPr marL="0" indent="0">
              <a:buNone/>
            </a:pPr>
            <a:endParaRPr lang="en-IN" dirty="0"/>
          </a:p>
          <a:p>
            <a:pPr marL="0" indent="0">
              <a:buNone/>
            </a:pPr>
            <a:r>
              <a:rPr lang="en-IN" b="1" dirty="0"/>
              <a:t>Reason:</a:t>
            </a:r>
          </a:p>
          <a:p>
            <a:pPr marL="0" indent="0">
              <a:buNone/>
            </a:pPr>
            <a:r>
              <a:rPr lang="en-IN" dirty="0"/>
              <a:t>The modification occurred as part of a known package-management</a:t>
            </a:r>
          </a:p>
          <a:p>
            <a:pPr marL="0" indent="0">
              <a:buNone/>
            </a:pPr>
            <a:r>
              <a:rPr lang="en-IN" dirty="0"/>
              <a:t>operation during the organization's normal maintenance window.</a:t>
            </a:r>
            <a:endParaRPr lang="en-US" dirty="0"/>
          </a:p>
        </p:txBody>
      </p:sp>
    </p:spTree>
    <p:extLst>
      <p:ext uri="{BB962C8B-B14F-4D97-AF65-F5344CB8AC3E}">
        <p14:creationId xmlns:p14="http://schemas.microsoft.com/office/powerpoint/2010/main" val="169786433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4274" y="685800"/>
            <a:ext cx="10143066" cy="1046205"/>
          </a:xfrm>
        </p:spPr>
        <p:txBody>
          <a:bodyPr>
            <a:normAutofit/>
          </a:bodyPr>
          <a:lstStyle/>
          <a:p>
            <a:r>
              <a:rPr lang="en-US" dirty="0" err="1" smtClean="0">
                <a:solidFill>
                  <a:srgbClr val="C00000"/>
                </a:solidFill>
              </a:rPr>
              <a:t>LangGraph</a:t>
            </a:r>
            <a:r>
              <a:rPr lang="en-US" dirty="0" smtClean="0">
                <a:solidFill>
                  <a:srgbClr val="C00000"/>
                </a:solidFill>
              </a:rPr>
              <a:t> Based WAF Rule Generation Agent</a:t>
            </a:r>
            <a:endParaRPr lang="en-IN" dirty="0">
              <a:solidFill>
                <a:srgbClr val="C00000"/>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20400" y="1"/>
            <a:ext cx="1371599" cy="1371599"/>
          </a:xfrm>
          <a:prstGeom prst="rect">
            <a:avLst/>
          </a:prstGeom>
        </p:spPr>
      </p:pic>
      <p:pic>
        <p:nvPicPr>
          <p:cNvPr id="3" name="Picture 2"/>
          <p:cNvPicPr>
            <a:picLocks noChangeAspect="1"/>
          </p:cNvPicPr>
          <p:nvPr/>
        </p:nvPicPr>
        <p:blipFill>
          <a:blip r:embed="rId3"/>
          <a:stretch>
            <a:fillRect/>
          </a:stretch>
        </p:blipFill>
        <p:spPr>
          <a:xfrm>
            <a:off x="377505" y="1884575"/>
            <a:ext cx="10585936" cy="3985798"/>
          </a:xfrm>
          <a:prstGeom prst="rect">
            <a:avLst/>
          </a:prstGeom>
        </p:spPr>
      </p:pic>
    </p:spTree>
    <p:extLst>
      <p:ext uri="{BB962C8B-B14F-4D97-AF65-F5344CB8AC3E}">
        <p14:creationId xmlns:p14="http://schemas.microsoft.com/office/powerpoint/2010/main" val="132697479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4274" y="685800"/>
            <a:ext cx="10143066" cy="1046205"/>
          </a:xfrm>
        </p:spPr>
        <p:txBody>
          <a:bodyPr>
            <a:normAutofit/>
          </a:bodyPr>
          <a:lstStyle/>
          <a:p>
            <a:r>
              <a:rPr lang="en-US" dirty="0" err="1" smtClean="0">
                <a:solidFill>
                  <a:srgbClr val="C00000"/>
                </a:solidFill>
              </a:rPr>
              <a:t>LangGraph</a:t>
            </a:r>
            <a:r>
              <a:rPr lang="en-US" dirty="0" smtClean="0">
                <a:solidFill>
                  <a:srgbClr val="C00000"/>
                </a:solidFill>
              </a:rPr>
              <a:t> Based WAF Rule Generation Agent</a:t>
            </a:r>
            <a:endParaRPr lang="en-IN" dirty="0">
              <a:solidFill>
                <a:srgbClr val="C00000"/>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20400" y="1"/>
            <a:ext cx="1371599" cy="1371599"/>
          </a:xfrm>
          <a:prstGeom prst="rect">
            <a:avLst/>
          </a:prstGeom>
        </p:spPr>
      </p:pic>
      <p:pic>
        <p:nvPicPr>
          <p:cNvPr id="5" name="Picture 4"/>
          <p:cNvPicPr>
            <a:picLocks noChangeAspect="1"/>
          </p:cNvPicPr>
          <p:nvPr/>
        </p:nvPicPr>
        <p:blipFill>
          <a:blip r:embed="rId3"/>
          <a:stretch>
            <a:fillRect/>
          </a:stretch>
        </p:blipFill>
        <p:spPr>
          <a:xfrm>
            <a:off x="889382" y="1856147"/>
            <a:ext cx="10616817" cy="4052310"/>
          </a:xfrm>
          <a:prstGeom prst="rect">
            <a:avLst/>
          </a:prstGeom>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311154975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4274" y="685800"/>
            <a:ext cx="10143066" cy="1046205"/>
          </a:xfrm>
        </p:spPr>
        <p:txBody>
          <a:bodyPr>
            <a:normAutofit/>
          </a:bodyPr>
          <a:lstStyle/>
          <a:p>
            <a:r>
              <a:rPr lang="en-US" dirty="0" err="1" smtClean="0">
                <a:solidFill>
                  <a:srgbClr val="C00000"/>
                </a:solidFill>
              </a:rPr>
              <a:t>LangGraph</a:t>
            </a:r>
            <a:r>
              <a:rPr lang="en-US" dirty="0" smtClean="0">
                <a:solidFill>
                  <a:srgbClr val="C00000"/>
                </a:solidFill>
              </a:rPr>
              <a:t> Based WAF Rule Generation Agent</a:t>
            </a:r>
            <a:endParaRPr lang="en-IN" dirty="0">
              <a:solidFill>
                <a:srgbClr val="C00000"/>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20400" y="1"/>
            <a:ext cx="1371599" cy="1371599"/>
          </a:xfrm>
          <a:prstGeom prst="rect">
            <a:avLst/>
          </a:prstGeom>
        </p:spPr>
      </p:pic>
      <p:pic>
        <p:nvPicPr>
          <p:cNvPr id="3" name="Picture 2"/>
          <p:cNvPicPr>
            <a:picLocks noChangeAspect="1"/>
          </p:cNvPicPr>
          <p:nvPr/>
        </p:nvPicPr>
        <p:blipFill>
          <a:blip r:embed="rId3"/>
          <a:stretch>
            <a:fillRect/>
          </a:stretch>
        </p:blipFill>
        <p:spPr>
          <a:xfrm>
            <a:off x="294274" y="1732005"/>
            <a:ext cx="11383442" cy="4791536"/>
          </a:xfrm>
          <a:prstGeom prst="rect">
            <a:avLst/>
          </a:prstGeom>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196108534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4274" y="685800"/>
            <a:ext cx="10143066" cy="1046205"/>
          </a:xfrm>
        </p:spPr>
        <p:txBody>
          <a:bodyPr>
            <a:normAutofit/>
          </a:bodyPr>
          <a:lstStyle/>
          <a:p>
            <a:r>
              <a:rPr lang="en-US" dirty="0" err="1" smtClean="0">
                <a:solidFill>
                  <a:srgbClr val="C00000"/>
                </a:solidFill>
              </a:rPr>
              <a:t>LangGraph</a:t>
            </a:r>
            <a:r>
              <a:rPr lang="en-US" dirty="0" smtClean="0">
                <a:solidFill>
                  <a:srgbClr val="C00000"/>
                </a:solidFill>
              </a:rPr>
              <a:t> Based Phishing Simulation Agent</a:t>
            </a:r>
            <a:endParaRPr lang="en-IN" dirty="0">
              <a:solidFill>
                <a:srgbClr val="C00000"/>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20400" y="1"/>
            <a:ext cx="1371599" cy="1371599"/>
          </a:xfrm>
          <a:prstGeom prst="rect">
            <a:avLst/>
          </a:prstGeom>
        </p:spPr>
      </p:pic>
      <p:pic>
        <p:nvPicPr>
          <p:cNvPr id="5" name="Picture 4"/>
          <p:cNvPicPr>
            <a:picLocks noChangeAspect="1"/>
          </p:cNvPicPr>
          <p:nvPr/>
        </p:nvPicPr>
        <p:blipFill>
          <a:blip r:embed="rId3"/>
          <a:stretch>
            <a:fillRect/>
          </a:stretch>
        </p:blipFill>
        <p:spPr>
          <a:xfrm>
            <a:off x="687897" y="1869259"/>
            <a:ext cx="10241559" cy="4181902"/>
          </a:xfrm>
          <a:prstGeom prst="rect">
            <a:avLst/>
          </a:prstGeom>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314586557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4912" y="243016"/>
            <a:ext cx="9282212" cy="885568"/>
          </a:xfrm>
        </p:spPr>
        <p:txBody>
          <a:bodyPr/>
          <a:lstStyle/>
          <a:p>
            <a:r>
              <a:rPr lang="en-US" dirty="0" err="1" smtClean="0">
                <a:solidFill>
                  <a:srgbClr val="C00000"/>
                </a:solidFill>
              </a:rPr>
              <a:t>LangGraph</a:t>
            </a:r>
            <a:r>
              <a:rPr lang="en-US" dirty="0" smtClean="0">
                <a:solidFill>
                  <a:srgbClr val="C00000"/>
                </a:solidFill>
              </a:rPr>
              <a:t> Agent Sample Code</a:t>
            </a:r>
            <a:endParaRPr lang="en-IN" dirty="0">
              <a:solidFill>
                <a:srgbClr val="C00000"/>
              </a:solidFill>
            </a:endParaRPr>
          </a:p>
        </p:txBody>
      </p:sp>
      <p:sp>
        <p:nvSpPr>
          <p:cNvPr id="3" name="Content Placeholder 2"/>
          <p:cNvSpPr>
            <a:spLocks noGrp="1"/>
          </p:cNvSpPr>
          <p:nvPr>
            <p:ph idx="1"/>
          </p:nvPr>
        </p:nvSpPr>
        <p:spPr>
          <a:xfrm>
            <a:off x="640263" y="926757"/>
            <a:ext cx="10765024" cy="5103339"/>
          </a:xfrm>
        </p:spPr>
        <p:txBody>
          <a:bodyPr>
            <a:noAutofit/>
          </a:bodyPr>
          <a:lstStyle/>
          <a:p>
            <a:pPr marL="0" indent="0">
              <a:buNone/>
            </a:pPr>
            <a:r>
              <a:rPr lang="en-IN" sz="1400" i="1" dirty="0"/>
              <a:t># -------------------------</a:t>
            </a:r>
            <a:br>
              <a:rPr lang="en-IN" sz="1400" i="1" dirty="0"/>
            </a:br>
            <a:r>
              <a:rPr lang="en-IN" sz="1400" i="1" dirty="0"/>
              <a:t># Build Graph</a:t>
            </a:r>
            <a:br>
              <a:rPr lang="en-IN" sz="1400" i="1" dirty="0"/>
            </a:br>
            <a:r>
              <a:rPr lang="en-IN" sz="1400" i="1" dirty="0"/>
              <a:t># -------------------------</a:t>
            </a:r>
            <a:br>
              <a:rPr lang="en-IN" sz="1400" i="1" dirty="0"/>
            </a:br>
            <a:r>
              <a:rPr lang="en-IN" sz="1400" i="1" dirty="0"/>
              <a:t>builder = </a:t>
            </a:r>
            <a:r>
              <a:rPr lang="en-IN" sz="1400" i="1" dirty="0" err="1"/>
              <a:t>StateGraph</a:t>
            </a:r>
            <a:r>
              <a:rPr lang="en-IN" sz="1400" i="1" dirty="0"/>
              <a:t>(</a:t>
            </a:r>
            <a:r>
              <a:rPr lang="en-IN" sz="1400" i="1" dirty="0" err="1"/>
              <a:t>RedTeamState</a:t>
            </a:r>
            <a:r>
              <a:rPr lang="en-IN" sz="1400" i="1" dirty="0"/>
              <a:t>)</a:t>
            </a:r>
            <a:br>
              <a:rPr lang="en-IN" sz="1400" i="1" dirty="0"/>
            </a:br>
            <a:r>
              <a:rPr lang="en-IN" sz="1400" i="1" dirty="0"/>
              <a:t/>
            </a:r>
            <a:br>
              <a:rPr lang="en-IN" sz="1400" i="1" dirty="0"/>
            </a:br>
            <a:r>
              <a:rPr lang="en-IN" sz="1400" i="1" dirty="0" err="1"/>
              <a:t>builder.add_node</a:t>
            </a:r>
            <a:r>
              <a:rPr lang="en-IN" sz="1400" i="1" dirty="0"/>
              <a:t>("recon", </a:t>
            </a:r>
            <a:r>
              <a:rPr lang="en-IN" sz="1400" i="1" dirty="0" err="1"/>
              <a:t>recon_node</a:t>
            </a:r>
            <a:r>
              <a:rPr lang="en-IN" sz="1400" i="1" dirty="0"/>
              <a:t>)</a:t>
            </a:r>
            <a:br>
              <a:rPr lang="en-IN" sz="1400" i="1" dirty="0"/>
            </a:br>
            <a:r>
              <a:rPr lang="en-IN" sz="1400" i="1" dirty="0" err="1"/>
              <a:t>builder.add_node</a:t>
            </a:r>
            <a:r>
              <a:rPr lang="en-IN" sz="1400" i="1" dirty="0"/>
              <a:t>("payload", </a:t>
            </a:r>
            <a:r>
              <a:rPr lang="en-IN" sz="1400" i="1" dirty="0" err="1"/>
              <a:t>payload_node</a:t>
            </a:r>
            <a:r>
              <a:rPr lang="en-IN" sz="1400" i="1" dirty="0"/>
              <a:t>)</a:t>
            </a:r>
            <a:br>
              <a:rPr lang="en-IN" sz="1400" i="1" dirty="0"/>
            </a:br>
            <a:r>
              <a:rPr lang="en-IN" sz="1400" i="1" dirty="0" err="1"/>
              <a:t>builder.add_node</a:t>
            </a:r>
            <a:r>
              <a:rPr lang="en-IN" sz="1400" i="1" dirty="0"/>
              <a:t>("exploit", </a:t>
            </a:r>
            <a:r>
              <a:rPr lang="en-IN" sz="1400" i="1" dirty="0" err="1"/>
              <a:t>exploit_node</a:t>
            </a:r>
            <a:r>
              <a:rPr lang="en-IN" sz="1400" i="1" dirty="0"/>
              <a:t>)</a:t>
            </a:r>
            <a:br>
              <a:rPr lang="en-IN" sz="1400" i="1" dirty="0"/>
            </a:br>
            <a:r>
              <a:rPr lang="en-IN" sz="1400" i="1" dirty="0" err="1"/>
              <a:t>builder.add_node</a:t>
            </a:r>
            <a:r>
              <a:rPr lang="en-IN" sz="1400" i="1" dirty="0"/>
              <a:t>("analysis", </a:t>
            </a:r>
            <a:r>
              <a:rPr lang="en-IN" sz="1400" i="1" dirty="0" err="1"/>
              <a:t>analysis_node</a:t>
            </a:r>
            <a:r>
              <a:rPr lang="en-IN" sz="1400" i="1" dirty="0"/>
              <a:t>)</a:t>
            </a:r>
            <a:br>
              <a:rPr lang="en-IN" sz="1400" i="1" dirty="0"/>
            </a:br>
            <a:r>
              <a:rPr lang="en-IN" sz="1400" i="1" dirty="0" err="1"/>
              <a:t>builder.add_node</a:t>
            </a:r>
            <a:r>
              <a:rPr lang="en-IN" sz="1400" i="1" dirty="0"/>
              <a:t>("report", </a:t>
            </a:r>
            <a:r>
              <a:rPr lang="en-IN" sz="1400" i="1" dirty="0" err="1"/>
              <a:t>report_node</a:t>
            </a:r>
            <a:r>
              <a:rPr lang="en-IN" sz="1400" i="1" dirty="0"/>
              <a:t>)</a:t>
            </a:r>
            <a:br>
              <a:rPr lang="en-IN" sz="1400" i="1" dirty="0"/>
            </a:br>
            <a:r>
              <a:rPr lang="en-IN" sz="1400" i="1" dirty="0"/>
              <a:t/>
            </a:r>
            <a:br>
              <a:rPr lang="en-IN" sz="1400" i="1" dirty="0"/>
            </a:br>
            <a:r>
              <a:rPr lang="en-IN" sz="1400" i="1" dirty="0" err="1"/>
              <a:t>builder.set_entry_point</a:t>
            </a:r>
            <a:r>
              <a:rPr lang="en-IN" sz="1400" i="1" dirty="0"/>
              <a:t>("recon")</a:t>
            </a:r>
            <a:br>
              <a:rPr lang="en-IN" sz="1400" i="1" dirty="0"/>
            </a:br>
            <a:r>
              <a:rPr lang="en-IN" sz="1400" i="1" dirty="0"/>
              <a:t/>
            </a:r>
            <a:br>
              <a:rPr lang="en-IN" sz="1400" i="1" dirty="0"/>
            </a:br>
            <a:r>
              <a:rPr lang="en-IN" sz="1400" i="1" dirty="0" err="1"/>
              <a:t>builder.add_edge</a:t>
            </a:r>
            <a:r>
              <a:rPr lang="en-IN" sz="1400" i="1" dirty="0"/>
              <a:t>("recon", "payload")</a:t>
            </a:r>
            <a:br>
              <a:rPr lang="en-IN" sz="1400" i="1" dirty="0"/>
            </a:br>
            <a:r>
              <a:rPr lang="en-IN" sz="1400" i="1" dirty="0" err="1"/>
              <a:t>builder.add_edge</a:t>
            </a:r>
            <a:r>
              <a:rPr lang="en-IN" sz="1400" i="1" dirty="0"/>
              <a:t>("payload", "exploit")</a:t>
            </a:r>
            <a:br>
              <a:rPr lang="en-IN" sz="1400" i="1" dirty="0"/>
            </a:br>
            <a:r>
              <a:rPr lang="en-IN" sz="1400" i="1" dirty="0" err="1"/>
              <a:t>builder.add_edge</a:t>
            </a:r>
            <a:r>
              <a:rPr lang="en-IN" sz="1400" i="1" dirty="0"/>
              <a:t>("exploit", "analysis")</a:t>
            </a:r>
            <a:br>
              <a:rPr lang="en-IN" sz="1400" i="1" dirty="0"/>
            </a:br>
            <a:r>
              <a:rPr lang="en-IN" sz="1400" i="1" dirty="0" err="1"/>
              <a:t>builder.add_edge</a:t>
            </a:r>
            <a:r>
              <a:rPr lang="en-IN" sz="1400" i="1" dirty="0"/>
              <a:t>("analysis", "report")</a:t>
            </a:r>
            <a:br>
              <a:rPr lang="en-IN" sz="1400" i="1" dirty="0"/>
            </a:br>
            <a:r>
              <a:rPr lang="en-IN" sz="1400" i="1" dirty="0"/>
              <a:t/>
            </a:r>
            <a:br>
              <a:rPr lang="en-IN" sz="1400" i="1" dirty="0"/>
            </a:br>
            <a:r>
              <a:rPr lang="en-IN" sz="1400" i="1" dirty="0"/>
              <a:t>graph = </a:t>
            </a:r>
            <a:r>
              <a:rPr lang="en-IN" sz="1400" i="1" dirty="0" err="1"/>
              <a:t>builder.compile</a:t>
            </a:r>
            <a:r>
              <a:rPr lang="en-IN" sz="1400" i="1" dirty="0"/>
              <a:t>()</a:t>
            </a:r>
            <a:br>
              <a:rPr lang="en-IN" sz="1400" i="1" dirty="0"/>
            </a:br>
            <a:r>
              <a:rPr lang="en-IN" sz="1400" i="1" dirty="0"/>
              <a:t/>
            </a:r>
            <a:br>
              <a:rPr lang="en-IN" sz="1400" i="1" dirty="0"/>
            </a:br>
            <a:r>
              <a:rPr lang="en-IN" sz="1400" i="1" dirty="0" smtClean="0"/>
              <a:t># </a:t>
            </a:r>
            <a:r>
              <a:rPr lang="en-IN" sz="1400" i="1" dirty="0"/>
              <a:t>-------------------------</a:t>
            </a:r>
            <a:br>
              <a:rPr lang="en-IN" sz="1400" i="1" dirty="0"/>
            </a:br>
            <a:r>
              <a:rPr lang="en-IN" sz="1400" i="1" dirty="0"/>
              <a:t># Run Agent</a:t>
            </a:r>
            <a:br>
              <a:rPr lang="en-IN" sz="1400" i="1" dirty="0"/>
            </a:br>
            <a:r>
              <a:rPr lang="en-IN" sz="1400" i="1" dirty="0"/>
              <a:t># -------------------------</a:t>
            </a:r>
            <a:br>
              <a:rPr lang="en-IN" sz="1400" i="1" dirty="0"/>
            </a:br>
            <a:r>
              <a:rPr lang="en-IN" sz="1400" i="1" dirty="0"/>
              <a:t>if __name__ == "__main__":</a:t>
            </a:r>
            <a:br>
              <a:rPr lang="en-IN" sz="1400" i="1" dirty="0"/>
            </a:br>
            <a:r>
              <a:rPr lang="en-IN" sz="1400" i="1" dirty="0"/>
              <a:t>result = </a:t>
            </a:r>
            <a:r>
              <a:rPr lang="en-IN" sz="1400" i="1" dirty="0" err="1"/>
              <a:t>graph.invoke</a:t>
            </a:r>
            <a:r>
              <a:rPr lang="en-IN" sz="1400" i="1" dirty="0"/>
              <a:t>({</a:t>
            </a:r>
            <a:br>
              <a:rPr lang="en-IN" sz="1400" i="1" dirty="0"/>
            </a:br>
            <a:r>
              <a:rPr lang="en-IN" sz="1400" i="1" dirty="0"/>
              <a:t>"target": </a:t>
            </a:r>
            <a:r>
              <a:rPr lang="en-IN" sz="1400" i="1" dirty="0" smtClean="0"/>
              <a:t>“192.168.0.0/24”</a:t>
            </a:r>
            <a:r>
              <a:rPr lang="en-IN" sz="1400" i="1" dirty="0"/>
              <a:t/>
            </a:r>
            <a:br>
              <a:rPr lang="en-IN" sz="1400" i="1" dirty="0"/>
            </a:br>
            <a:r>
              <a:rPr lang="en-IN" sz="1400" i="1" dirty="0"/>
              <a: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20400" y="1"/>
            <a:ext cx="1371599" cy="1371599"/>
          </a:xfrm>
          <a:prstGeom prst="rect">
            <a:avLst/>
          </a:prstGeom>
        </p:spPr>
      </p:pic>
    </p:spTree>
    <p:extLst>
      <p:ext uri="{BB962C8B-B14F-4D97-AF65-F5344CB8AC3E}">
        <p14:creationId xmlns:p14="http://schemas.microsoft.com/office/powerpoint/2010/main" val="184965697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134" y="675503"/>
            <a:ext cx="10011262" cy="1054444"/>
          </a:xfrm>
        </p:spPr>
        <p:txBody>
          <a:bodyPr/>
          <a:lstStyle/>
          <a:p>
            <a:r>
              <a:rPr lang="en-US" dirty="0" err="1" smtClean="0">
                <a:solidFill>
                  <a:schemeClr val="accent5"/>
                </a:solidFill>
              </a:rPr>
              <a:t>LangSmith</a:t>
            </a:r>
            <a:r>
              <a:rPr lang="en-US" dirty="0" smtClean="0">
                <a:solidFill>
                  <a:schemeClr val="accent5"/>
                </a:solidFill>
              </a:rPr>
              <a:t> for LLM Observability</a:t>
            </a:r>
            <a:r>
              <a:rPr lang="en-US" dirty="0">
                <a:solidFill>
                  <a:schemeClr val="accent5"/>
                </a:solidFill>
              </a:rPr>
              <a:t> </a:t>
            </a:r>
            <a:r>
              <a:rPr lang="en-US" dirty="0" smtClean="0">
                <a:solidFill>
                  <a:schemeClr val="accent5"/>
                </a:solidFill>
              </a:rPr>
              <a:t>and Debugging</a:t>
            </a:r>
            <a:endParaRPr lang="en-IN" dirty="0">
              <a:solidFill>
                <a:schemeClr val="accent5"/>
              </a:solidFill>
            </a:endParaRPr>
          </a:p>
        </p:txBody>
      </p:sp>
      <p:pic>
        <p:nvPicPr>
          <p:cNvPr id="5" name="Content Placeholder 4"/>
          <p:cNvPicPr>
            <a:picLocks noGrp="1" noChangeAspect="1"/>
          </p:cNvPicPr>
          <p:nvPr>
            <p:ph idx="1"/>
          </p:nvPr>
        </p:nvPicPr>
        <p:blipFill>
          <a:blip r:embed="rId2"/>
          <a:stretch>
            <a:fillRect/>
          </a:stretch>
        </p:blipFill>
        <p:spPr>
          <a:xfrm>
            <a:off x="5579624" y="2237357"/>
            <a:ext cx="6612375" cy="3371513"/>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20400" y="1"/>
            <a:ext cx="1371599" cy="1371599"/>
          </a:xfrm>
          <a:prstGeom prst="rect">
            <a:avLst/>
          </a:prstGeom>
        </p:spPr>
      </p:pic>
      <p:sp>
        <p:nvSpPr>
          <p:cNvPr id="6" name="Rectangle 5"/>
          <p:cNvSpPr/>
          <p:nvPr/>
        </p:nvSpPr>
        <p:spPr>
          <a:xfrm>
            <a:off x="220134" y="1371600"/>
            <a:ext cx="5198350" cy="4524315"/>
          </a:xfrm>
          <a:prstGeom prst="rect">
            <a:avLst/>
          </a:prstGeom>
        </p:spPr>
        <p:txBody>
          <a:bodyPr wrap="square">
            <a:spAutoFit/>
          </a:bodyPr>
          <a:lstStyle/>
          <a:p>
            <a:r>
              <a:rPr lang="en-IN" dirty="0"/>
              <a:t/>
            </a:r>
            <a:br>
              <a:rPr lang="en-IN" dirty="0"/>
            </a:br>
            <a:r>
              <a:rPr lang="en-IN" dirty="0" smtClean="0"/>
              <a:t>‍</a:t>
            </a:r>
          </a:p>
          <a:p>
            <a:pPr marL="285750" indent="-285750">
              <a:buFont typeface="Wingdings" panose="05000000000000000000" pitchFamily="2" charset="2"/>
              <a:buChar char="Ø"/>
            </a:pPr>
            <a:r>
              <a:rPr lang="en-IN" dirty="0" err="1"/>
              <a:t>LangSmith</a:t>
            </a:r>
            <a:r>
              <a:rPr lang="en-IN" dirty="0"/>
              <a:t> is a framework-agnostic platform for developing, debugging, and deploying AI agents and LLM applications. </a:t>
            </a:r>
            <a:endParaRPr lang="en-IN" dirty="0" smtClean="0"/>
          </a:p>
          <a:p>
            <a:pPr marL="285750" indent="-285750">
              <a:buFont typeface="Wingdings" panose="05000000000000000000" pitchFamily="2" charset="2"/>
              <a:buChar char="Ø"/>
            </a:pPr>
            <a:r>
              <a:rPr lang="en-IN" dirty="0" smtClean="0"/>
              <a:t>It </a:t>
            </a:r>
            <a:r>
              <a:rPr lang="en-IN" dirty="0"/>
              <a:t>helps you trace requests, evaluate outputs, test prompts, and manage deployments in one place. </a:t>
            </a:r>
            <a:endParaRPr lang="en-IN" dirty="0" smtClean="0"/>
          </a:p>
          <a:p>
            <a:pPr marL="285750" indent="-285750">
              <a:buFont typeface="Wingdings" panose="05000000000000000000" pitchFamily="2" charset="2"/>
              <a:buChar char="Ø"/>
            </a:pPr>
            <a:r>
              <a:rPr lang="en-IN" dirty="0" err="1" smtClean="0"/>
              <a:t>LangSmith</a:t>
            </a:r>
            <a:r>
              <a:rPr lang="en-IN" dirty="0" smtClean="0"/>
              <a:t> </a:t>
            </a:r>
            <a:r>
              <a:rPr lang="en-IN" dirty="0"/>
              <a:t>works with any agent stack, whether you’re using an existing framework or building your own. Prototype locally, then move to production with integrated monitoring and evaluation to build more reliable AI agents</a:t>
            </a:r>
            <a:r>
              <a:rPr lang="en-IN" dirty="0" smtClean="0"/>
              <a:t>.</a:t>
            </a:r>
            <a:r>
              <a:rPr lang="en-IN" dirty="0"/>
              <a:t> </a:t>
            </a:r>
            <a:endParaRPr lang="en-IN" dirty="0" smtClean="0"/>
          </a:p>
          <a:p>
            <a:pPr marL="285750" indent="-285750">
              <a:buFont typeface="Wingdings" panose="05000000000000000000" pitchFamily="2" charset="2"/>
              <a:buChar char="Ø"/>
            </a:pPr>
            <a:r>
              <a:rPr lang="en-IN" dirty="0" err="1" smtClean="0"/>
              <a:t>LangSmith</a:t>
            </a:r>
            <a:r>
              <a:rPr lang="en-IN" dirty="0" smtClean="0"/>
              <a:t> </a:t>
            </a:r>
            <a:r>
              <a:rPr lang="en-IN" dirty="0"/>
              <a:t>Observability gives you complete visibility into agent </a:t>
            </a:r>
            <a:r>
              <a:rPr lang="en-IN" dirty="0" err="1"/>
              <a:t>behavior</a:t>
            </a:r>
            <a:r>
              <a:rPr lang="en-IN" dirty="0"/>
              <a:t>.</a:t>
            </a:r>
          </a:p>
        </p:txBody>
      </p:sp>
    </p:spTree>
    <p:extLst>
      <p:ext uri="{BB962C8B-B14F-4D97-AF65-F5344CB8AC3E}">
        <p14:creationId xmlns:p14="http://schemas.microsoft.com/office/powerpoint/2010/main" val="29279919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134" y="675503"/>
            <a:ext cx="10011262" cy="1054444"/>
          </a:xfrm>
        </p:spPr>
        <p:txBody>
          <a:bodyPr/>
          <a:lstStyle/>
          <a:p>
            <a:r>
              <a:rPr lang="en-US" dirty="0" err="1" smtClean="0">
                <a:solidFill>
                  <a:schemeClr val="accent5"/>
                </a:solidFill>
              </a:rPr>
              <a:t>LangSmith</a:t>
            </a:r>
            <a:r>
              <a:rPr lang="en-US" dirty="0" smtClean="0">
                <a:solidFill>
                  <a:schemeClr val="accent5"/>
                </a:solidFill>
              </a:rPr>
              <a:t> Studio to build Agents</a:t>
            </a:r>
            <a:endParaRPr lang="en-IN" dirty="0">
              <a:solidFill>
                <a:schemeClr val="accent5"/>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20400" y="1"/>
            <a:ext cx="1371599" cy="1371599"/>
          </a:xfrm>
          <a:prstGeom prst="rect">
            <a:avLst/>
          </a:prstGeom>
        </p:spPr>
      </p:pic>
      <p:pic>
        <p:nvPicPr>
          <p:cNvPr id="7" name="Picture 6"/>
          <p:cNvPicPr>
            <a:picLocks noChangeAspect="1"/>
          </p:cNvPicPr>
          <p:nvPr/>
        </p:nvPicPr>
        <p:blipFill>
          <a:blip r:embed="rId3"/>
          <a:stretch>
            <a:fillRect/>
          </a:stretch>
        </p:blipFill>
        <p:spPr>
          <a:xfrm>
            <a:off x="366852" y="1821960"/>
            <a:ext cx="9717825" cy="4560413"/>
          </a:xfrm>
          <a:prstGeom prst="rect">
            <a:avLst/>
          </a:prstGeom>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1359820002"/>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11480</TotalTime>
  <Words>968</Words>
  <Application>Microsoft Office PowerPoint</Application>
  <PresentationFormat>Widescreen</PresentationFormat>
  <Paragraphs>163</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Trebuchet MS</vt:lpstr>
      <vt:lpstr>Wingdings</vt:lpstr>
      <vt:lpstr>Wingdings 3</vt:lpstr>
      <vt:lpstr>Facet</vt:lpstr>
      <vt:lpstr> AI POWERED SIEM  Reducing Alert Fatigue for SOC Analysts and Improving MTTD/MTTR  TEAM : CYBERVENGERS</vt:lpstr>
      <vt:lpstr>PowerPoint Presentation</vt:lpstr>
      <vt:lpstr>Problem Statement</vt:lpstr>
      <vt:lpstr>How AI Can Help Here?</vt:lpstr>
      <vt:lpstr>High Level Flow Diagram</vt:lpstr>
      <vt:lpstr>High Level Flow Diagram</vt:lpstr>
      <vt:lpstr>Using Local LLM with Ollama for Initial Triaging of Alerts</vt:lpstr>
      <vt:lpstr>Example: SSH authentication failure → alert.</vt:lpstr>
      <vt:lpstr>SSH brute-force false positive</vt:lpstr>
      <vt:lpstr>SSH brute-force false positive</vt:lpstr>
      <vt:lpstr>PowerShell encoded command</vt:lpstr>
      <vt:lpstr>File Integrity Monitoring false positive</vt:lpstr>
      <vt:lpstr>LangGraph Based WAF Rule Generation Agent</vt:lpstr>
      <vt:lpstr>LangGraph Based WAF Rule Generation Agent</vt:lpstr>
      <vt:lpstr>LangGraph Based WAF Rule Generation Agent</vt:lpstr>
      <vt:lpstr>LangGraph Based Phishing Simulation Agent</vt:lpstr>
      <vt:lpstr>LangGraph Agent Sample Code</vt:lpstr>
      <vt:lpstr>LangSmith for LLM Observability and Debugging</vt:lpstr>
      <vt:lpstr>LangSmith Studio to build Agents</vt:lpstr>
    </vt:vector>
  </TitlesOfParts>
  <Company>Fortinet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Ranjith Singh</dc:creator>
  <cp:lastModifiedBy>Ranjith Singh</cp:lastModifiedBy>
  <cp:revision>191</cp:revision>
  <dcterms:created xsi:type="dcterms:W3CDTF">2026-03-20T05:49:03Z</dcterms:created>
  <dcterms:modified xsi:type="dcterms:W3CDTF">2026-09-19T12:19:30Z</dcterms:modified>
</cp:coreProperties>
</file>